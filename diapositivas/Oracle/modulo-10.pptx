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5" r:id="rId4"/>
    <p:sldId id="264" r:id="rId5"/>
    <p:sldId id="263" r:id="rId6"/>
    <p:sldId id="262" r:id="rId7"/>
    <p:sldId id="261" r:id="rId8"/>
    <p:sldId id="260" r:id="rId9"/>
    <p:sldId id="259" r:id="rId10"/>
    <p:sldId id="258" r:id="rId11"/>
    <p:sldId id="257" r:id="rId1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450E0-69FF-8B26-FAAF-221C26C00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81B056-20A0-CCA5-7E6D-47C1700AC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2BA96-1C2D-C323-FF78-367241CF3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8C3B-A63D-4EBA-820A-AC1308B406FC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7F1B31-79CD-3B89-6111-655B5CC9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550DA4-A2C8-B6A8-F6CF-46509A1B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5717F-ED74-49B3-AD49-F7F873CCAB2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6810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700DD-0A44-93A6-9D3C-A6952E0A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112EA0-CD30-7094-F7E7-FC4487B92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F8EC59-CD69-6781-4EF2-DFB716A6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8C3B-A63D-4EBA-820A-AC1308B406FC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183843-961B-036D-4D52-0D6B1B880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9B0265-6AA4-1E20-7AF8-BD5EE114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5717F-ED74-49B3-AD49-F7F873CCAB2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003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77191-8611-66A3-F313-7E3A55E7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0004F8-2D92-D722-186B-53DCD2538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D1EB11-7FD6-BF29-9DFF-A7AFFAA7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8C3B-A63D-4EBA-820A-AC1308B406FC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A97FDB-45B1-8F77-702F-83674B2D2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8F14A6-9F16-D149-B54C-B4A4129C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5717F-ED74-49B3-AD49-F7F873CCAB2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7064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29089B-44A1-B462-0F9B-6B0456C6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A313D4-8E14-F0A5-E553-D3E4983848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E0954D-3454-9CD7-8A9F-42AE5084F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B72B10-54BE-709B-9926-130D41188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8C3B-A63D-4EBA-820A-AC1308B406FC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C458FE-7C8B-F82B-D45A-A87CBBC92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2BF933-D7C4-673D-594B-B02E32FB8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5717F-ED74-49B3-AD49-F7F873CCAB2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2350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C056C-08F7-29BA-0053-4F062019D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243377-8B95-37BE-2AF5-D5901AAE8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9428B3-9F1B-301B-0A18-17BA4FC5E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2F5E5F-4B17-2906-8597-1618BE488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0CA27BB-EBA7-DE01-4B0F-0C0290ACEA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739BC0-710F-8BC9-7D53-3C2A8F793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8C3B-A63D-4EBA-820A-AC1308B406FC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80FBC06-5B5E-4042-26D8-7757FF356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98465B-4F72-344A-A078-55DD7FA66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5717F-ED74-49B3-AD49-F7F873CCAB2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0617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90C2F-142F-1672-BDB0-4B2FB5A24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DC1386-CC93-5BEA-093D-BB338035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8C3B-A63D-4EBA-820A-AC1308B406FC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F6A4CD-CBB6-16D7-CB5A-B6B5C39C3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C87B4F-BE70-8211-1D43-416D5A188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5717F-ED74-49B3-AD49-F7F873CCAB2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83017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3BD7473-7DA3-173F-D26D-58E7370B2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8C3B-A63D-4EBA-820A-AC1308B406FC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9E3DD4-012B-577A-AC3E-B89EB159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8338E3-DF34-C885-9DF0-9AA6CB746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5717F-ED74-49B3-AD49-F7F873CCAB2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9850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84E28-3748-F84F-12C5-F16D26C90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0CC1CD-9BBD-CEBE-9209-5C541F3AB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8AE4E9-1C1F-7FD4-7980-6A7F5E5FD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DD545A-2BDB-D39F-FB74-EDCCEBD3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8C3B-A63D-4EBA-820A-AC1308B406FC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E4B003-2F8B-0F9F-05FE-B1B43E0C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1BE80E-5E4F-E4E9-7B0E-6D66CF045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5717F-ED74-49B3-AD49-F7F873CCAB2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20448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C1B733-1E7F-F265-B0A5-328B2E1F5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7B2E72B-0051-0303-97A6-0D214069B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89AB6B-068B-C756-59BC-96A0CCB8F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CE3B4A-FD64-BFEE-5558-BAD9C32F1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8C3B-A63D-4EBA-820A-AC1308B406FC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1DE525-02E7-7D13-66AB-78F95D60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1CB65B-E06E-69F0-2586-9173AA3A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5717F-ED74-49B3-AD49-F7F873CCAB2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0607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1C25F-7E4F-9246-DE8D-35FDECB66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D22F19-8222-D9D9-6665-2FF1CAD6C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A39311-83F9-9A4E-F908-68B317344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8C3B-A63D-4EBA-820A-AC1308B406FC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CC55C7-E6F5-84D3-AE09-CD3E6643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15EF22-EFDA-5650-C909-7B247307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5717F-ED74-49B3-AD49-F7F873CCAB2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49725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955019-75D3-3782-798B-B7E671FA09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002058-85FD-F6E8-C1BA-85A6F0E02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AB7AE3-B138-D84C-3BA5-C562D4FC0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8C3B-A63D-4EBA-820A-AC1308B406FC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2B144D-38B0-703E-235C-C32243FE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4916C7-4E92-3ACD-3450-F9C7B23E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5717F-ED74-49B3-AD49-F7F873CCAB2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8651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E7AD1-FEEE-3647-5DF4-484F6744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A1498D-FEE1-9935-E61C-EB18D9488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4417C0-EA3B-1E91-7EA3-47D72A242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8C3B-A63D-4EBA-820A-AC1308B406FC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13F740-4857-85CA-2F62-7E46F5C9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936006-42CF-D2FF-5E94-833335DC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5717F-ED74-49B3-AD49-F7F873CCAB2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08110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A07E070-7B4C-E94C-DB69-34F45D8DB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5CA0BA-AD08-044A-2737-89E90AA54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463388-F936-0DD4-3A82-51072A476F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18C3B-A63D-4EBA-820A-AC1308B406FC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5DA2F2-15AF-92EF-CB4A-4388E33DB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824E05-BA0D-C5AB-371D-349803231C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5717F-ED74-49B3-AD49-F7F873CCAB2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78170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5EB57-623A-D83B-1260-D0AF0D8F36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Strings y Numeros en PL/SQL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27822D-7AB8-AE07-24E7-FC2B64EDB7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/>
              <a:t>PL/SQL Training - Semana 3, Clase 5</a:t>
            </a:r>
          </a:p>
        </p:txBody>
      </p:sp>
    </p:spTree>
    <p:extLst>
      <p:ext uri="{BB962C8B-B14F-4D97-AF65-F5344CB8AC3E}">
        <p14:creationId xmlns:p14="http://schemas.microsoft.com/office/powerpoint/2010/main" val="1920427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0155D-7920-7ACE-555E-A077D0E0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8713DE-9526-2711-0ACE-EE3C8A054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VARCHAR2 para textos variables, CLOB para grandes</a:t>
            </a:r>
          </a:p>
          <a:p>
            <a:r>
              <a:rPr lang="es-EC"/>
              <a:t>  Amplia biblioteca de funciones de string</a:t>
            </a:r>
          </a:p>
          <a:p>
            <a:r>
              <a:rPr lang="es-EC"/>
              <a:t>  PLS_INTEGER optimo para aritmetica entera</a:t>
            </a:r>
          </a:p>
          <a:p>
            <a:r>
              <a:rPr lang="es-EC"/>
              <a:t>  Funciones analiticas potencian el analisis</a:t>
            </a:r>
          </a:p>
          <a:p>
            <a:r>
              <a:rPr lang="es-EC"/>
              <a:t>  CHECK constraints para integridad de datos</a:t>
            </a:r>
          </a:p>
        </p:txBody>
      </p:sp>
    </p:spTree>
    <p:extLst>
      <p:ext uri="{BB962C8B-B14F-4D97-AF65-F5344CB8AC3E}">
        <p14:creationId xmlns:p14="http://schemas.microsoft.com/office/powerpoint/2010/main" val="1190718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D2EC99-9824-6A3B-1668-99D1FBA3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Modelado: Dominios y CHECK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BFEF0D-A0BD-72FC-BA9B-67175790A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Dominio: conjunto de valores permitidos</a:t>
            </a:r>
          </a:p>
          <a:p>
            <a:r>
              <a:rPr lang="es-MX"/>
              <a:t>  CHECK (salario BETWEEN 1000 AND 10000)</a:t>
            </a:r>
          </a:p>
          <a:p>
            <a:r>
              <a:rPr lang="es-MX"/>
              <a:t>  CHECK (email LIKE '%@%.com')</a:t>
            </a:r>
          </a:p>
          <a:p>
            <a:r>
              <a:rPr lang="es-MX"/>
              <a:t>  Validacion a nivel de base de datos</a:t>
            </a:r>
          </a:p>
          <a:p>
            <a:r>
              <a:rPr lang="es-MX"/>
              <a:t>  Complementa la logica de la aplicacion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07548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E1C088-B9EC-20BB-DC8D-65635FB7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LEAD y LAG con PARTITION BY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D48A21-B27F-026E-DA8C-441D1E94F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LAG(col, n, default): valor n filas atras</a:t>
            </a:r>
          </a:p>
          <a:p>
            <a:r>
              <a:rPr lang="es-EC"/>
              <a:t>  LEAD(col, n, default): valor n filas adelante</a:t>
            </a:r>
          </a:p>
          <a:p>
            <a:r>
              <a:rPr lang="es-EC"/>
              <a:t>  PARTITION BY departamento ORDER BY salario</a:t>
            </a:r>
          </a:p>
          <a:p>
            <a:r>
              <a:rPr lang="es-EC"/>
              <a:t>  Util para comparar filas consecutivas</a:t>
            </a:r>
          </a:p>
          <a:p>
            <a:r>
              <a:rPr lang="es-EC"/>
              <a:t>  Diferencia entre periodos, crecimiento, tendencias</a:t>
            </a:r>
          </a:p>
        </p:txBody>
      </p:sp>
    </p:spTree>
    <p:extLst>
      <p:ext uri="{BB962C8B-B14F-4D97-AF65-F5344CB8AC3E}">
        <p14:creationId xmlns:p14="http://schemas.microsoft.com/office/powerpoint/2010/main" val="2750124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FD823-610E-DB12-7066-2C3579249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Funciones Analiticas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BBB9D5-BA8D-0051-0A7D-3411E6E17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ROW_NUMBER(): numero de fila unico en la particion</a:t>
            </a:r>
          </a:p>
          <a:p>
            <a:r>
              <a:rPr lang="es-MX"/>
              <a:t>  RANK(): ranking con saltos ante empates</a:t>
            </a:r>
          </a:p>
          <a:p>
            <a:r>
              <a:rPr lang="es-MX"/>
              <a:t>  DENSE_RANK(): ranking sin saltos</a:t>
            </a:r>
          </a:p>
          <a:p>
            <a:r>
              <a:rPr lang="es-MX"/>
              <a:t>  LEAD / LAG: acceso a fila siguiente / anterior</a:t>
            </a:r>
          </a:p>
          <a:p>
            <a:r>
              <a:rPr lang="es-MX"/>
              <a:t>  PARTITION BY: reinicia el calculo por grupo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06994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81FB3-5323-A06A-D37A-E4A91F80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Funciones Numericas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458241-D48D-3D0B-8051-6EA2E077D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ROUND(n, d): redondea a d decimales</a:t>
            </a:r>
          </a:p>
          <a:p>
            <a:r>
              <a:rPr lang="es-MX"/>
              <a:t>  TRUNC(n, d): trunca a d decimales</a:t>
            </a:r>
          </a:p>
          <a:p>
            <a:r>
              <a:rPr lang="es-MX"/>
              <a:t>  MOD(n, m): resto de la division</a:t>
            </a:r>
          </a:p>
          <a:p>
            <a:r>
              <a:rPr lang="es-MX"/>
              <a:t>  CEIL / FLOOR: redondeo hacia arriba / abajo</a:t>
            </a:r>
          </a:p>
          <a:p>
            <a:r>
              <a:rPr lang="es-MX"/>
              <a:t>  ABS / SIGN: valor absoluto y signo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86796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FB73F-CA9E-4AB8-3A47-F8DE38CF4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Tipos Numericos: NUMBER y PLS_INTEGER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1ED117-490B-E12F-7E8B-75611D30F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NUMBER(p,s): precision y escala definibles</a:t>
            </a:r>
          </a:p>
          <a:p>
            <a:r>
              <a:rPr lang="es-EC"/>
              <a:t>  PLS_INTEGER: entero nativo, mas rapido que NUMBER</a:t>
            </a:r>
          </a:p>
          <a:p>
            <a:r>
              <a:rPr lang="es-EC"/>
              <a:t>  BINARY_FLOAT / BINARY_DOUBLE: punto flotante IEEE</a:t>
            </a:r>
          </a:p>
          <a:p>
            <a:r>
              <a:rPr lang="es-EC"/>
              <a:t>  PLS_INTEGER ideal para contadores y loops</a:t>
            </a:r>
          </a:p>
        </p:txBody>
      </p:sp>
    </p:spTree>
    <p:extLst>
      <p:ext uri="{BB962C8B-B14F-4D97-AF65-F5344CB8AC3E}">
        <p14:creationId xmlns:p14="http://schemas.microsoft.com/office/powerpoint/2010/main" val="54532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81EBE-C7C3-2A38-A904-DF52FF1EE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Funciones de String (2)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B81A14-7923-1D36-13BD-B5343EA47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TRIM / LTRIM / RTRIM: elimina espacios</a:t>
            </a:r>
          </a:p>
          <a:p>
            <a:r>
              <a:rPr lang="es-EC"/>
              <a:t>  LPAD / RPAD: rellena a izquierda o derecha</a:t>
            </a:r>
          </a:p>
          <a:p>
            <a:r>
              <a:rPr lang="es-EC"/>
              <a:t>  CONCAT o ||: concatenacion de strings</a:t>
            </a:r>
          </a:p>
          <a:p>
            <a:r>
              <a:rPr lang="es-EC"/>
              <a:t>  TRANSLATE: sustitucion caracter por caracter</a:t>
            </a:r>
          </a:p>
          <a:p>
            <a:r>
              <a:rPr lang="es-EC"/>
              <a:t>  REGEXP_LIKE / REGEXP_REPLACE: expresiones regulares</a:t>
            </a:r>
          </a:p>
        </p:txBody>
      </p:sp>
    </p:spTree>
    <p:extLst>
      <p:ext uri="{BB962C8B-B14F-4D97-AF65-F5344CB8AC3E}">
        <p14:creationId xmlns:p14="http://schemas.microsoft.com/office/powerpoint/2010/main" val="3852060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82941-4F4E-CFDC-193E-09729A3D5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Funciones de String (1)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664651-2764-E12D-B72F-8CDD97BB7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UPPER / LOWER / INITCAP: conversion de mayusculas</a:t>
            </a:r>
          </a:p>
          <a:p>
            <a:r>
              <a:rPr lang="es-EC"/>
              <a:t>  LENGTH: longitud del string</a:t>
            </a:r>
          </a:p>
          <a:p>
            <a:r>
              <a:rPr lang="es-EC"/>
              <a:t>  SUBSTR(cadena, inicio, largo): extrae subcadena</a:t>
            </a:r>
          </a:p>
          <a:p>
            <a:r>
              <a:rPr lang="es-EC"/>
              <a:t>  INSTR(cadena, buscar): posicion de subcadena</a:t>
            </a:r>
          </a:p>
          <a:p>
            <a:r>
              <a:rPr lang="es-EC"/>
              <a:t>  REPLACE(cadena, buscar, reemplazar): sustitucion</a:t>
            </a:r>
          </a:p>
        </p:txBody>
      </p:sp>
    </p:spTree>
    <p:extLst>
      <p:ext uri="{BB962C8B-B14F-4D97-AF65-F5344CB8AC3E}">
        <p14:creationId xmlns:p14="http://schemas.microsoft.com/office/powerpoint/2010/main" val="1086722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1CB8C-8F48-C00B-2319-9C6D0477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Tipos de String: VARCHAR2, CHAR, CLOB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B4532A-A178-435A-AEA3-1AF2B8002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VARCHAR2(n): longitud variable, hasta 32767 en PL/SQL</a:t>
            </a:r>
          </a:p>
          <a:p>
            <a:r>
              <a:rPr lang="es-EC"/>
              <a:t>  CHAR(n): longitud fija, rellena con espacios</a:t>
            </a:r>
          </a:p>
          <a:p>
            <a:r>
              <a:rPr lang="es-EC"/>
              <a:t>  CLOB: Character Large Object, hasta 128 TB</a:t>
            </a:r>
          </a:p>
          <a:p>
            <a:r>
              <a:rPr lang="es-EC"/>
              <a:t>  Usar VARCHAR2 por defecto, CLOB para textos largos</a:t>
            </a:r>
          </a:p>
        </p:txBody>
      </p:sp>
    </p:spTree>
    <p:extLst>
      <p:ext uri="{BB962C8B-B14F-4D97-AF65-F5344CB8AC3E}">
        <p14:creationId xmlns:p14="http://schemas.microsoft.com/office/powerpoint/2010/main" val="4254435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47AA2-4C08-203E-EBC0-292E98380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3E4B96-55C5-44D1-A306-5DF30F2AB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Diferenciar VARCHAR2, CHAR y CLOB</a:t>
            </a:r>
          </a:p>
          <a:p>
            <a:r>
              <a:rPr lang="es-MX"/>
              <a:t>  Dominar funciones de manipulacion de strings</a:t>
            </a:r>
          </a:p>
          <a:p>
            <a:r>
              <a:rPr lang="es-MX"/>
              <a:t>  Conocer NUMBER y PLS_INTEGER</a:t>
            </a:r>
          </a:p>
          <a:p>
            <a:r>
              <a:rPr lang="es-MX"/>
              <a:t>  Aplicar funciones numericas avanzadas</a:t>
            </a:r>
          </a:p>
          <a:p>
            <a:r>
              <a:rPr lang="es-MX"/>
              <a:t>  Usar funciones analiticas con PARTITION BY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855560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Office PowerPoint</Application>
  <PresentationFormat>Panorámica</PresentationFormat>
  <Paragraphs>70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Strings y Numeros en PL/SQL</vt:lpstr>
      <vt:lpstr>Resumen</vt:lpstr>
      <vt:lpstr>Modelado: Dominios y CHECK</vt:lpstr>
      <vt:lpstr>LEAD y LAG con PARTITION BY</vt:lpstr>
      <vt:lpstr>Funciones Analiticas</vt:lpstr>
      <vt:lpstr>Funciones Numericas</vt:lpstr>
      <vt:lpstr>Tipos Numericos: NUMBER y PLS_INTEGER</vt:lpstr>
      <vt:lpstr>Funciones de String (2)</vt:lpstr>
      <vt:lpstr>Funciones de String (1)</vt:lpstr>
      <vt:lpstr>Tipos de String: VARCHAR2, CHAR, CLOB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2026-06-05T14:25:32Z</dcterms:created>
  <dcterms:modified xsi:type="dcterms:W3CDTF">2026-06-05T14:25:32Z</dcterms:modified>
</cp:coreProperties>
</file>