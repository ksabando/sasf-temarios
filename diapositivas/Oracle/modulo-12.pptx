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5" r:id="rId4"/>
    <p:sldId id="264" r:id="rId5"/>
    <p:sldId id="263" r:id="rId6"/>
    <p:sldId id="262" r:id="rId7"/>
    <p:sldId id="261" r:id="rId8"/>
    <p:sldId id="260" r:id="rId9"/>
    <p:sldId id="259" r:id="rId10"/>
    <p:sldId id="258" r:id="rId11"/>
    <p:sldId id="257" r:id="rId1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4AA77-224E-4205-CBFC-C9087E526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13C603-AEAC-6FE7-CBB4-E641E392C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A91D9D-D249-7001-C6EB-4438018EB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F16D2-0E00-48E9-83B4-08DAB1A3273B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38D089-133D-1462-C1E8-348F7A3F9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9B5904-F137-59D2-99C4-6819385FE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7C2AA-4D3A-42D7-96C8-1780D7843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97268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E50E4-5EA0-2361-1541-D11C2DD4F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2503FF-06A9-5535-4ACF-C7A87CA0A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C5488C-5E6F-4557-6724-F22A9DB69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F16D2-0E00-48E9-83B4-08DAB1A3273B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A56941-B9B0-EFB2-E345-6B23F7734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904F1A-61C5-E2AC-3710-CABFC0F2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7C2AA-4D3A-42D7-96C8-1780D7843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35059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402E2-0E7D-6CF5-29E4-EC64A4E1D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CF3826-4508-6DAB-2779-E6FFB15A7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6B0B2A-197E-0062-D6DD-60A0AD08A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F16D2-0E00-48E9-83B4-08DAB1A3273B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5D76EF-167E-576A-3A9D-F1441C747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B8D68E-944A-EB92-872E-B0696C41C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7C2AA-4D3A-42D7-96C8-1780D7843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1800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9142C-FCD4-CD61-F6F7-96FB8F4CA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178340-AB67-DEAE-0EAA-32516A1D0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1B6468-3E46-39F6-B908-9FC43ED2E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7F6A43-6724-DFB2-3820-A3D60447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F16D2-0E00-48E9-83B4-08DAB1A3273B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5CD977-7961-4772-44DA-627AC2FF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150393-105E-73C2-2371-5141D3808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7C2AA-4D3A-42D7-96C8-1780D7843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0249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5ACDC-8A8F-BEC7-E5C0-970F68002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D8376B-B919-190F-5005-84E8C4D4A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E6FD8EA-18ED-AF6C-FCDF-363F20924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BC2C1AA-DCCC-662C-87E5-6CA64DB842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A10A46A-8955-65F4-1261-CACF388EE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425A2EF-0825-72BF-8950-6DB0DDF4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F16D2-0E00-48E9-83B4-08DAB1A3273B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BAD06F-985A-8053-0457-FC911121D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D40A42F-7C21-083A-D391-E931F2008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7C2AA-4D3A-42D7-96C8-1780D7843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66580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30638A-2074-9F27-DC68-61B048A4A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A665600-DDC2-E26B-8718-0E7E1A6C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F16D2-0E00-48E9-83B4-08DAB1A3273B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F0516E-F3FE-7793-539D-51D41902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8418ABE-5A83-12E3-97DA-83F3E444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7C2AA-4D3A-42D7-96C8-1780D7843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9136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61CC13F-926B-D71B-FA88-484B3CA86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F16D2-0E00-48E9-83B4-08DAB1A3273B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A9AA57-D7A9-2D7B-F07A-41D96A83C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0D77FB-13B5-5F45-EE11-D88216E96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7C2AA-4D3A-42D7-96C8-1780D7843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9709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B306CC-EDA0-C57B-F8C7-901BBF44C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04B574-583E-9A66-A632-961A4447C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3F0349-6C9C-7885-AC76-8ACB73B5C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265C6B-3A3A-72A5-7E30-9494625C2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F16D2-0E00-48E9-83B4-08DAB1A3273B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98FB8E-C41C-54B8-AC1A-FDD15200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5E5667-58C4-20B8-8EC8-B7ACFD897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7C2AA-4D3A-42D7-96C8-1780D7843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79658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4F15BC-DDA6-4F14-26A1-0E9F43A49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2129A45-D6FA-38EF-B5C0-762F882BC6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C65C6A-8FC8-F993-A1DD-E54C8D3B5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2505DD-38EA-9D69-57F3-388498F57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F16D2-0E00-48E9-83B4-08DAB1A3273B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78EFDC-CF09-CC59-866D-F12A200CF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2741B5-1A28-24B5-F4EE-0E77A279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7C2AA-4D3A-42D7-96C8-1780D7843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5669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383B1-B4F0-F367-4C47-EBC42447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501A83-57D4-6043-BDAC-AE4BC5566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91756D-5473-A1B6-F4EA-5A598B916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F16D2-0E00-48E9-83B4-08DAB1A3273B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B54ECD-EA37-569F-FB0F-CE76195F9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46428-FF1E-F315-C508-523E00257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7C2AA-4D3A-42D7-96C8-1780D7843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91632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A283A73-477C-CB1E-9086-9DCDBC8409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35DE37-415B-B1EF-CEE8-B52C2BE07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680195-B797-5563-182A-23652D099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F16D2-0E00-48E9-83B4-08DAB1A3273B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6B5785-7C56-917D-8977-55B717342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ECAA43-A176-3261-F8B6-5DE42CC7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7C2AA-4D3A-42D7-96C8-1780D7843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15190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112706-AFF7-8035-FB08-F825449CF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5823EA-3B07-9207-CC6D-C3B3349D1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E50D86-4445-B2F5-7A73-9A0B34DF8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F16D2-0E00-48E9-83B4-08DAB1A3273B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8CA695-A37A-174A-526B-C2280628F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3EF747-AF4E-8C9F-219C-96AC572B1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7C2AA-4D3A-42D7-96C8-1780D7843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3770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58F737B-5B14-8E9A-0E72-DCCA8FB23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5678CC-AD61-3D27-5DD5-E7750CEBB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93E2AD-4E7D-A9EA-BBA1-70781224A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EF16D2-0E00-48E9-83B4-08DAB1A3273B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4C50B9-5965-68EB-6119-CCC9C4E30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E2923B-F5C2-63E5-5242-0DFAC7B50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7C2AA-4D3A-42D7-96C8-1780D7843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1200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0D143-CB22-A058-7BD5-E6ADF27132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/>
              <a:t>Records, Vistas y Joins en PL/SQL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CA4B5B-2D7B-A101-3D6A-A241D21F76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/>
              <a:t>PL/SQL Training - Semana 4, Clase 7</a:t>
            </a:r>
          </a:p>
        </p:txBody>
      </p:sp>
    </p:spTree>
    <p:extLst>
      <p:ext uri="{BB962C8B-B14F-4D97-AF65-F5344CB8AC3E}">
        <p14:creationId xmlns:p14="http://schemas.microsoft.com/office/powerpoint/2010/main" val="3293535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2C991-A1E6-01DE-540B-664A6907A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FABF91-812E-10AC-3696-6DDDE2140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TYPE IS RECORD para estructuras personalizadas</a:t>
            </a:r>
          </a:p>
          <a:p>
            <a:r>
              <a:rPr lang="es-EC"/>
              <a:t>  %ROWTYPE vincula variables a esquemas de tabla</a:t>
            </a:r>
          </a:p>
          <a:p>
            <a:r>
              <a:rPr lang="es-EC"/>
              <a:t>  Vistas: simples (DML), complejas (consulta), materializadas (fisicas)</a:t>
            </a:r>
          </a:p>
          <a:p>
            <a:r>
              <a:rPr lang="es-EC"/>
              <a:t>  Cada JOIN resuelve un problema de relacion especifico</a:t>
            </a:r>
          </a:p>
          <a:p>
            <a:r>
              <a:rPr lang="es-EC"/>
              <a:t>  Las vistas derivadas encapsulan complejidad</a:t>
            </a:r>
          </a:p>
        </p:txBody>
      </p:sp>
    </p:spTree>
    <p:extLst>
      <p:ext uri="{BB962C8B-B14F-4D97-AF65-F5344CB8AC3E}">
        <p14:creationId xmlns:p14="http://schemas.microsoft.com/office/powerpoint/2010/main" val="2042021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A9566-F9A2-C2AF-68BC-A854841CA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Modelado: Vistas Derivadas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0A86B6-A60B-DCE7-60AF-CD2AC133C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Uso de vistas para simplificar consultas complejas</a:t>
            </a:r>
          </a:p>
          <a:p>
            <a:r>
              <a:rPr lang="es-MX"/>
              <a:t>  Vistas como capa de abstraccion</a:t>
            </a:r>
          </a:p>
          <a:p>
            <a:r>
              <a:rPr lang="es-MX"/>
              <a:t>  Encapsulan logica de negocio en la BD</a:t>
            </a:r>
          </a:p>
          <a:p>
            <a:r>
              <a:rPr lang="es-MX"/>
              <a:t>  Derivadas de multiples tablas con joins</a:t>
            </a:r>
          </a:p>
          <a:p>
            <a:r>
              <a:rPr lang="es-MX"/>
              <a:t>  Facilitan mantenimiento y seguridad (GRANT sobre vista)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2307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8FA04-4803-07B2-D705-A71F6445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Tipos de JOIN (2)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AACCB0-9947-C7DD-D801-926B939B9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CROSS JOIN: producto cartesiano</a:t>
            </a:r>
          </a:p>
          <a:p>
            <a:r>
              <a:rPr lang="es-EC"/>
              <a:t>  SELF JOIN: una tabla consigo misma</a:t>
            </a:r>
          </a:p>
          <a:p>
            <a:r>
              <a:rPr lang="es-EC"/>
              <a:t>  NATURAL JOIN: junta por columnas con mismo nombre</a:t>
            </a:r>
          </a:p>
          <a:p>
            <a:r>
              <a:rPr lang="es-EC"/>
              <a:t>  JOIN con USING: junta por columna especifica</a:t>
            </a:r>
          </a:p>
          <a:p>
            <a:r>
              <a:rPr lang="es-EC"/>
              <a:t>  Sintaxis Oracle antigua: WHERE a.col = b.col(+)</a:t>
            </a:r>
          </a:p>
        </p:txBody>
      </p:sp>
    </p:spTree>
    <p:extLst>
      <p:ext uri="{BB962C8B-B14F-4D97-AF65-F5344CB8AC3E}">
        <p14:creationId xmlns:p14="http://schemas.microsoft.com/office/powerpoint/2010/main" val="4229954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DC58E-8EA6-DED2-925B-F2150BD6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Tipos de JOIN (1)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AB96CE-964D-B44C-D129-735856313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INNER JOIN: solo filas coincidentes en ambas</a:t>
            </a:r>
          </a:p>
          <a:p>
            <a:r>
              <a:rPr lang="es-EC"/>
              <a:t>  LEFT JOIN: todas de izquierda + coincidencias</a:t>
            </a:r>
          </a:p>
          <a:p>
            <a:r>
              <a:rPr lang="es-EC"/>
              <a:t>  RIGHT JOIN: todas de derecha + coincidencias</a:t>
            </a:r>
          </a:p>
          <a:p>
            <a:r>
              <a:rPr lang="es-EC"/>
              <a:t>  FULL OUTER JOIN: todas las filas de ambas</a:t>
            </a:r>
          </a:p>
          <a:p>
            <a:r>
              <a:rPr lang="es-EC"/>
              <a:t>  Sintaxis ANSI recomendada: ON condicion</a:t>
            </a:r>
          </a:p>
        </p:txBody>
      </p:sp>
    </p:spTree>
    <p:extLst>
      <p:ext uri="{BB962C8B-B14F-4D97-AF65-F5344CB8AC3E}">
        <p14:creationId xmlns:p14="http://schemas.microsoft.com/office/powerpoint/2010/main" val="1727514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3DD66-D3D8-D964-0485-C4DA465B9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Vistas Materializadas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01FB55-4B9E-FEBF-4FBD-EB890C538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Almacenan fisicamente el resultado de la consulta</a:t>
            </a:r>
          </a:p>
          <a:p>
            <a:r>
              <a:rPr lang="es-EC"/>
              <a:t>  CREATE MATERIALIZED VIEW nombre ... REFRESH ...</a:t>
            </a:r>
          </a:p>
          <a:p>
            <a:r>
              <a:rPr lang="es-EC"/>
              <a:t>  REFRESH: ON COMMIT o ON DEMAND</a:t>
            </a:r>
          </a:p>
          <a:p>
            <a:r>
              <a:rPr lang="es-EC"/>
              <a:t>  Ideales para reporting y data warehousing</a:t>
            </a:r>
          </a:p>
          <a:p>
            <a:r>
              <a:rPr lang="es-EC"/>
              <a:t>  Mejoran performance en consultas complejas repetitivas</a:t>
            </a:r>
          </a:p>
        </p:txBody>
      </p:sp>
    </p:spTree>
    <p:extLst>
      <p:ext uri="{BB962C8B-B14F-4D97-AF65-F5344CB8AC3E}">
        <p14:creationId xmlns:p14="http://schemas.microsoft.com/office/powerpoint/2010/main" val="3081443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4BF62-93ED-48D8-C1F6-CA92DF5B6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Vistas Simples y Complejas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08BAE1-672A-EA09-A243-CA0349B06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CREATE VIEW nombre AS SELECT ...</a:t>
            </a:r>
          </a:p>
          <a:p>
            <a:r>
              <a:rPr lang="es-EC"/>
              <a:t>  Vistas simples: una tabla, sin funciones de grupo</a:t>
            </a:r>
          </a:p>
          <a:p>
            <a:r>
              <a:rPr lang="es-EC"/>
              <a:t>    Permiten INSERT, UPDATE, DELETE</a:t>
            </a:r>
          </a:p>
          <a:p>
            <a:r>
              <a:rPr lang="es-EC"/>
              <a:t>  Vistas complejas: joins, funciones, DISTINCT</a:t>
            </a:r>
          </a:p>
          <a:p>
            <a:r>
              <a:rPr lang="es-EC"/>
              <a:t>    Generalmente de solo lectura</a:t>
            </a:r>
          </a:p>
          <a:p>
            <a:r>
              <a:rPr lang="es-EC"/>
              <a:t>  WITH CHECK OPTION: restringe DML via vista</a:t>
            </a:r>
          </a:p>
        </p:txBody>
      </p:sp>
    </p:spTree>
    <p:extLst>
      <p:ext uri="{BB962C8B-B14F-4D97-AF65-F5344CB8AC3E}">
        <p14:creationId xmlns:p14="http://schemas.microsoft.com/office/powerpoint/2010/main" val="1292390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96C3F-EA60-F100-27E5-8DB8B2C5E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Records Anidados y Parametros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F0D7C3-21B1-1DAE-7347-55DDE9013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Records como campos de otros records</a:t>
            </a:r>
          </a:p>
          <a:p>
            <a:r>
              <a:rPr lang="es-MX"/>
              <a:t>  TYPE rec_persona IS RECORD (</a:t>
            </a:r>
          </a:p>
          <a:p>
            <a:r>
              <a:rPr lang="es-MX"/>
              <a:t>    nombre VARCHAR2(100),</a:t>
            </a:r>
          </a:p>
          <a:p>
            <a:r>
              <a:rPr lang="es-MX"/>
              <a:t>    direccion rec_direccion</a:t>
            </a:r>
          </a:p>
          <a:p>
            <a:r>
              <a:rPr lang="es-MX"/>
              <a:t>  );</a:t>
            </a:r>
          </a:p>
          <a:p>
            <a:r>
              <a:rPr lang="es-MX"/>
              <a:t>  Records como parametros de procedimientos</a:t>
            </a:r>
          </a:p>
          <a:p>
            <a:r>
              <a:rPr lang="es-MX"/>
              <a:t>  Pasan estructuras completas en una sola variable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10868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945E6-A4FE-9234-FB20-424BB457B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%ROWTYPE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5BFDAC-E18E-D38E-6256-D3647D807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Declara una variable con la estructura de una tabla</a:t>
            </a:r>
          </a:p>
          <a:p>
            <a:r>
              <a:rPr lang="es-MX"/>
              <a:t>  v_emp  empleados%ROWTYPE;</a:t>
            </a:r>
          </a:p>
          <a:p>
            <a:r>
              <a:rPr lang="es-MX"/>
              <a:t>  v_cursor  cursor%ROWTYPE;</a:t>
            </a:r>
          </a:p>
          <a:p>
            <a:r>
              <a:rPr lang="es-MX"/>
              <a:t>  Se adapta automaticamente a cambios en la tabla</a:t>
            </a:r>
          </a:p>
          <a:p>
            <a:r>
              <a:rPr lang="es-MX"/>
              <a:t>  SELECT * INTO v_emp FROM empleados WHERE ...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88749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81D113-4730-1B9D-4714-87DF30D51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TYPE IS RECORD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1619A6-8E77-89CE-94CE-B9C18AE08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Define una estructura de datos personalizada</a:t>
            </a:r>
          </a:p>
          <a:p>
            <a:r>
              <a:rPr lang="es-MX"/>
              <a:t>  TYPE nombre_rec IS RECORD (</a:t>
            </a:r>
          </a:p>
          <a:p>
            <a:r>
              <a:rPr lang="es-MX"/>
              <a:t>    campo1 tipo1, campo2 tipo2, ...</a:t>
            </a:r>
          </a:p>
          <a:p>
            <a:r>
              <a:rPr lang="es-MX"/>
              <a:t>  );</a:t>
            </a:r>
          </a:p>
          <a:p>
            <a:r>
              <a:rPr lang="es-MX"/>
              <a:t>  Cada campo puede ser escalar, otro record o coleccion</a:t>
            </a:r>
          </a:p>
          <a:p>
            <a:r>
              <a:rPr lang="es-MX"/>
              <a:t>  Permite agrupar datos relacionados logicamente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90380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71A1A-A18D-D804-D8EA-908CCE970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D3146B-824F-FFDB-7402-0DD371242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Definir y usar TYPE IS RECORD</a:t>
            </a:r>
          </a:p>
          <a:p>
            <a:r>
              <a:rPr lang="es-MX"/>
              <a:t>  Aprovechar %ROWTYPE en todas sus formas</a:t>
            </a:r>
          </a:p>
          <a:p>
            <a:r>
              <a:rPr lang="es-MX"/>
              <a:t>  Crear records anidados y como parametros</a:t>
            </a:r>
          </a:p>
          <a:p>
            <a:r>
              <a:rPr lang="es-MX"/>
              <a:t>  Diferenciar vistas simples, complejas y materializadas</a:t>
            </a:r>
          </a:p>
          <a:p>
            <a:r>
              <a:rPr lang="es-MX"/>
              <a:t>  Dominar todos los tipos de JOIN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251660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Panorámica</PresentationFormat>
  <Paragraphs>76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Records, Vistas y Joins en PL/SQL</vt:lpstr>
      <vt:lpstr>Resumen</vt:lpstr>
      <vt:lpstr>Modelado: Vistas Derivadas</vt:lpstr>
      <vt:lpstr>Tipos de JOIN (2)</vt:lpstr>
      <vt:lpstr>Tipos de JOIN (1)</vt:lpstr>
      <vt:lpstr>Vistas Materializadas</vt:lpstr>
      <vt:lpstr>Vistas Simples y Complejas</vt:lpstr>
      <vt:lpstr>Records Anidados y Parametros</vt:lpstr>
      <vt:lpstr>%ROWTYPE</vt:lpstr>
      <vt:lpstr>TYPE IS RECORD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2026-06-05T14:25:38Z</dcterms:created>
  <dcterms:modified xsi:type="dcterms:W3CDTF">2026-06-05T14:25:38Z</dcterms:modified>
</cp:coreProperties>
</file>