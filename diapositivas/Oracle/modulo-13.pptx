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5" r:id="rId3"/>
    <p:sldId id="264" r:id="rId4"/>
    <p:sldId id="263" r:id="rId5"/>
    <p:sldId id="262" r:id="rId6"/>
    <p:sldId id="261" r:id="rId7"/>
    <p:sldId id="260" r:id="rId8"/>
    <p:sldId id="259" r:id="rId9"/>
    <p:sldId id="258" r:id="rId10"/>
    <p:sldId id="257" r:id="rId11"/>
  </p:sldIdLst>
  <p:sldSz cx="12192000" cy="6858000"/>
  <p:notesSz cx="6858000" cy="9144000"/>
  <p:defaultTextStyle>
    <a:defPPr>
      <a:defRPr lang="es-EC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0" d="100"/>
          <a:sy n="50" d="100"/>
        </p:scale>
        <p:origin x="1014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C8556B-3D57-051D-C5A8-7D09E54C1F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8C02A0C-453C-5353-33D9-E6C80C308B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DE627C1-0EE4-D233-E56F-D03E2BE165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FB36DD-37C3-4F9E-B2F8-5161129FF64F}" type="datetimeFigureOut">
              <a:rPr lang="es-EC" smtClean="0"/>
              <a:t>5/6/2026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6B62479-716D-A8C6-601B-7ED6E6362D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5368BF7-F59B-FAA3-7259-462544B76A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849C15-8F54-4318-92D4-DA9A65C5461C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032187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693184-04FB-8806-5BB3-C8C9334090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04BE897-ABC7-C3FF-3F08-1C615BAE3A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871DB7E-6A09-8D1C-AF32-2897BD4D1F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FB36DD-37C3-4F9E-B2F8-5161129FF64F}" type="datetimeFigureOut">
              <a:rPr lang="es-EC" smtClean="0"/>
              <a:t>5/6/2026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BE091DC-D259-4D7A-A790-931222644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37BDF45-FCFD-DD33-5747-FCB110B71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849C15-8F54-4318-92D4-DA9A65C5461C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5898362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498B3BC-4106-BCEB-AE34-5C61EE3733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03EA18A-4AF8-16EA-1653-BAB3F94619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3BFCF64-3659-A981-ABA1-A135E607FA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FB36DD-37C3-4F9E-B2F8-5161129FF64F}" type="datetimeFigureOut">
              <a:rPr lang="es-EC" smtClean="0"/>
              <a:t>5/6/2026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C6D3554-FFB4-417F-11AA-B55B315226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0ECECA2-6EB0-6018-A524-D16B1D23ED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849C15-8F54-4318-92D4-DA9A65C5461C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9959492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225DBE-A606-405C-F6E6-8302B34F8A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BA01AE2-B058-DF8E-73F9-26CF024953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4564860-9AAF-CAA6-95EF-8B1F61A265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700B380-C66D-5D60-6C82-673D7FF533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FB36DD-37C3-4F9E-B2F8-5161129FF64F}" type="datetimeFigureOut">
              <a:rPr lang="es-EC" smtClean="0"/>
              <a:t>5/6/2026</a:t>
            </a:fld>
            <a:endParaRPr lang="es-EC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36FFDDD-397E-9F02-5782-34F11B041F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4071B6F-22C2-E8BD-F856-A622C73E45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849C15-8F54-4318-92D4-DA9A65C5461C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41011037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1041FFA-C0D2-AF5F-CA84-DEB679FFE1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4FC2617-4E00-0981-BD30-E14F801B47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DEA916B-9A47-F5EF-51F7-527AE57D30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5CEC0C35-D335-C878-7E2E-1276FB3CE3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B256FC2F-4499-CC82-3336-6839FCE9239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64134238-D3F4-A5B1-8869-76F56109E2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FB36DD-37C3-4F9E-B2F8-5161129FF64F}" type="datetimeFigureOut">
              <a:rPr lang="es-EC" smtClean="0"/>
              <a:t>5/6/2026</a:t>
            </a:fld>
            <a:endParaRPr lang="es-EC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E9FA2817-DE3B-B8B0-D2A0-08B5D65CD9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26B412F4-C08E-5F81-8928-173223A918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849C15-8F54-4318-92D4-DA9A65C5461C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40840697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1C162A-384A-DDE2-AF37-0DFB515D12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16AE2AAD-E77D-F622-F48C-736898CDB3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FB36DD-37C3-4F9E-B2F8-5161129FF64F}" type="datetimeFigureOut">
              <a:rPr lang="es-EC" smtClean="0"/>
              <a:t>5/6/2026</a:t>
            </a:fld>
            <a:endParaRPr lang="es-EC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79F3973F-05E6-5C51-DFA6-5BD9F6F942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BC0F395E-5466-685D-7CA3-7DCCF7AF5E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849C15-8F54-4318-92D4-DA9A65C5461C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4043868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7EC5C99A-4F7D-4012-E250-4637E7FB77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FB36DD-37C3-4F9E-B2F8-5161129FF64F}" type="datetimeFigureOut">
              <a:rPr lang="es-EC" smtClean="0"/>
              <a:t>5/6/2026</a:t>
            </a:fld>
            <a:endParaRPr lang="es-EC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6DEC9046-B1E3-697D-F283-D9DBB2D765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7714C53-3499-7081-6C79-1A2AEA266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849C15-8F54-4318-92D4-DA9A65C5461C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6349511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19B11A-B30F-3A8B-823E-E8A045F4D9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2F4E617-82FB-4208-B7FE-C798498F31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407B0C4-73B6-7BBB-6E35-2209A4E546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69E8F73-A3EE-4146-6657-536AA5F099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FB36DD-37C3-4F9E-B2F8-5161129FF64F}" type="datetimeFigureOut">
              <a:rPr lang="es-EC" smtClean="0"/>
              <a:t>5/6/2026</a:t>
            </a:fld>
            <a:endParaRPr lang="es-EC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8AD42A0-0699-94F3-4AED-F0210A5D9E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D64DCCB-7A31-C0D5-71D3-14EBBA2D23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849C15-8F54-4318-92D4-DA9A65C5461C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8373058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62CC83-AD1D-35C8-3791-51AD46D97F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646D6F78-8C4D-BC30-C1A2-71B45EE53C7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C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E10A3CD-1819-982E-DCA8-81F4CE3C96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D681E47-D0A5-24EC-8974-AEF6033A6D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FB36DD-37C3-4F9E-B2F8-5161129FF64F}" type="datetimeFigureOut">
              <a:rPr lang="es-EC" smtClean="0"/>
              <a:t>5/6/2026</a:t>
            </a:fld>
            <a:endParaRPr lang="es-EC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57929C4-FF15-0ABC-ED69-29B1D143DA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89E6156-88D5-12E3-D87E-2AC2CB2DB4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849C15-8F54-4318-92D4-DA9A65C5461C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4288850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A0FA9D-6D79-1A19-C64A-FDEE8E19C4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18B2ECC-0D4C-562A-25B5-24DD817FBD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3603209-A68D-E320-C470-82E7300F46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FB36DD-37C3-4F9E-B2F8-5161129FF64F}" type="datetimeFigureOut">
              <a:rPr lang="es-EC" smtClean="0"/>
              <a:t>5/6/2026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3829FE6-F7C9-9D87-8F62-5B0EE75C18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6497B27-BBFF-2830-37E5-435DCDA7D9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849C15-8F54-4318-92D4-DA9A65C5461C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4643776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30A2ED3-0DC5-75A8-5321-EB48F81A363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3A7B8BD-1AB5-708A-1D11-AB031D8260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63CDE59-F1AC-6F71-AE9B-17AA6548D8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FB36DD-37C3-4F9E-B2F8-5161129FF64F}" type="datetimeFigureOut">
              <a:rPr lang="es-EC" smtClean="0"/>
              <a:t>5/6/2026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ACA3612-D3D2-620D-5358-C38B98C16E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1A6A291-5AD5-DF90-0E05-182E2F7DB0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849C15-8F54-4318-92D4-DA9A65C5461C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64434414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ítulo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B3B050-7B5D-5F04-1ACD-C28A8F048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13BD68D-A84E-89F4-F99F-EF71FD1475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F103B6E-CD22-CD52-F3BF-C3E4EE8358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FB36DD-37C3-4F9E-B2F8-5161129FF64F}" type="datetimeFigureOut">
              <a:rPr lang="es-EC" smtClean="0"/>
              <a:t>5/6/2026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2F80C94-C125-D178-185D-A042C80F5D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EB63429-77FE-88CE-AEE9-5229F2DDB9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849C15-8F54-4318-92D4-DA9A65C5461C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2006609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4944F2B3-1330-E925-2EFF-E753EC0BC6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4CB434A-8A8B-017C-D310-04D1948406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51DA503-1110-7C4E-7190-EEF99D48D4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1FB36DD-37C3-4F9E-B2F8-5161129FF64F}" type="datetimeFigureOut">
              <a:rPr lang="es-EC" smtClean="0"/>
              <a:t>5/6/2026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523DC84-4477-4B61-D85B-FFEC8B6D18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9B42978-A5ED-5D89-874D-2902746E34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3849C15-8F54-4318-92D4-DA9A65C5461C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1875641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C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3A6C9EF-BF42-614A-EB6D-7F434CE8D09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C"/>
              <a:t>Colecciones en PL/SQL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269341A-CDDD-4675-2AA9-7FEECFD0A8D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MX"/>
              <a:t>Semana 2 - Clase 8: Tipos de colecciones, BULK COLLECT, FORALL e indices</a:t>
            </a:r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5426370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418B63-FCB4-ED45-B728-E369F1F5B2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/>
              <a:t>Resumen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616E90D-2452-F6C1-4B99-A5F0565BA3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C"/>
              <a:t>Associative Arrays: datos temporales en memoria
Nested Tables: flexibles, usables en SQL
VARRAYs: tamano fijo, almacenamiento inline
BULK COLLECT + FORALL: procesamiento masivo eficiente
SAVE EXCEPTIONS: tolerancia a fallos en lotes
Indices: elegir segun cardinalidad y patron de consulta
Evaluar trade-off normalizacion vs rendimiento</a:t>
            </a:r>
          </a:p>
        </p:txBody>
      </p:sp>
    </p:spTree>
    <p:extLst>
      <p:ext uri="{BB962C8B-B14F-4D97-AF65-F5344CB8AC3E}">
        <p14:creationId xmlns:p14="http://schemas.microsoft.com/office/powerpoint/2010/main" val="7368914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5F7201-841C-3B62-9161-8B67A13CDA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/>
              <a:t>Modelado: Normalizado vs Colecciones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C63E9EB-D68A-CCCE-2B13-D72E315577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s-MX"/>
              <a:t>Tabla Normalizada:
  + Integridad referencial (FK), consultas SQL faciles
  - JOINs complejos, puede ser lento
Coleccion en Memoria:
  + Muy rapido (en memoria), sin JOIN
  - Sin integridad referencial, solo en sesion
VARRAY/Nested Table como columna:
  + Lecturas rapidas sin JOIN
  - Redundancia, actualizacion compleja</a:t>
            </a:r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213378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68F5E3-6106-6DE0-E306-BCFF2AF68A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/>
              <a:t>Indices en Oracle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8960199-2582-D50A-5B9E-DCAD76091E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s-EC"/>
              <a:t>B-Tree (default): Alta cardinalidad
  CREATE INDEX idx_nombre ON tabla(columna);
Bitmap: Baja cardinalidad (estado, genero)
  CREATE BITMAP INDEX idx_estado ON tabla(estado);
Function-Based: Busquedas case-insensitive
  CREATE INDEX idx_email ON empleados(UPPER(email));
Composite: Multiples columnas en WHERE
  CREATE INDEX idx_comp ON tabla(col1, col2);</a:t>
            </a:r>
          </a:p>
        </p:txBody>
      </p:sp>
    </p:spTree>
    <p:extLst>
      <p:ext uri="{BB962C8B-B14F-4D97-AF65-F5344CB8AC3E}">
        <p14:creationId xmlns:p14="http://schemas.microsoft.com/office/powerpoint/2010/main" val="19007834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479A527-1126-5BE6-7B85-1165C75577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/>
              <a:t>SAVE EXCEPTIONS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9BD97CF-2FBA-6801-9904-7BA0EC06FD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s-EC"/>
              <a:t>FORALL i IN 1..v_ids.COUNT SAVE EXCEPTIONS
Permite continuar tras fallos individuales
Captura en EXCEPTION con SQL%BULK_EXCEPTIONS:
  .COUNT - Numero de errores
  .ERROR_INDEX - Indice del elemento que fallo
  .ERROR_CODE - Codigo de error Oracle
Ideal para cargas masivas donde pocos registros pueden fallar</a:t>
            </a:r>
          </a:p>
        </p:txBody>
      </p:sp>
    </p:spTree>
    <p:extLst>
      <p:ext uri="{BB962C8B-B14F-4D97-AF65-F5344CB8AC3E}">
        <p14:creationId xmlns:p14="http://schemas.microsoft.com/office/powerpoint/2010/main" val="9466496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E163E5-B849-D511-1F46-4017288394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/>
              <a:t>BULK COLLECT y FORALL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F2D9FED-5511-0386-6157-BE39CA0981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s-EC"/>
              <a:t>BULK COLLECT: Carga multiple filas en una operacion
  SELECT * BULK COLLECT INTO v_datos FROM tabla;
FORALL: DML masivo en lote
  FORALL i IN 1..v_ids.COUNT
    UPDATE tabla SET col = val WHERE id = v_ids(i);
VENTAJA: Un solo cambio de contexto PL/SQL-SQL
vs N cambios en un FOR LOOP normal (10x-100x mas rapido)</a:t>
            </a:r>
          </a:p>
        </p:txBody>
      </p:sp>
    </p:spTree>
    <p:extLst>
      <p:ext uri="{BB962C8B-B14F-4D97-AF65-F5344CB8AC3E}">
        <p14:creationId xmlns:p14="http://schemas.microsoft.com/office/powerpoint/2010/main" val="29642683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64BE09-D0B4-7FE8-3003-B78EEAAAD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/>
              <a:t>Metodos de Coleccion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77B4F8C-B93B-DE80-B87E-CF520E6AE8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C"/>
              <a:t>EXISTS(i) - Verifica si el elemento i existe
COUNT - Numero de elementos en la coleccion
FIRST / LAST - Primer y ultimo indice valido
PRIOR(i) / NEXT(i) - Navegacion entre indices
EXTEND(n) - Agrega n elementos (Nested Table, VARRAY)
TRIM(n) - Elimina los ultimos n elementos
DELETE(i) - Elimina elemento i (o todos)</a:t>
            </a:r>
          </a:p>
        </p:txBody>
      </p:sp>
    </p:spTree>
    <p:extLst>
      <p:ext uri="{BB962C8B-B14F-4D97-AF65-F5344CB8AC3E}">
        <p14:creationId xmlns:p14="http://schemas.microsoft.com/office/powerpoint/2010/main" val="14651263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0BBB16-2900-5EAC-F197-F34D4D1E7A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/>
              <a:t>Nested Tables y VARRAYs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16B0ED5-F8C2-D192-5C66-F57B1CFF9A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s-MX"/>
              <a:t>NESTED TABLE:
  - Usable en SQL y PL/SQL
  - Puede ser columna de tabla
  - Necesita EXTEND antes de asignar
  - DELETE deja huecos
VARRAY:
  - Tamano fijo maximo declarado
  - Almacenamiento inline en la tabla
  - Indices consecutivos sin huecos
  - Ideal para pocos elementos (ej: telefonos)</a:t>
            </a:r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41128595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477030-7A58-37BF-53A6-3824FDB6F3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/>
              <a:t>Associative Arrays (INDEX BY)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286177C-BECA-40F4-6B91-C9A1C3B415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C"/>
              <a:t>TYPE t_stock IS TABLE OF NUMBER(6) INDEX BY PLS_INTEGER;
- Indexado por PLS_INTEGER o VARCHAR2
- No necesita EXTEND
- Se crea automaticamente al asignar
- Ideal para datos temporales en memoria
- No usable directamente en SQL</a:t>
            </a:r>
          </a:p>
        </p:txBody>
      </p:sp>
    </p:spTree>
    <p:extLst>
      <p:ext uri="{BB962C8B-B14F-4D97-AF65-F5344CB8AC3E}">
        <p14:creationId xmlns:p14="http://schemas.microsoft.com/office/powerpoint/2010/main" val="11576332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7419E5B-AA4B-69FC-902A-2CEA9CB1CD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/>
              <a:t>Objetivos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27433AC-02E0-A26E-080E-8333314ACA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/>
              <a:t>Dominar los tres tipos de colecciones
Aplicar BULK COLLECT y FORALL para procesamiento masivo
Manejar errores con SAVE EXCEPTIONS
Seleccionar el indice adecuado segun cardinalidad
Evaluar modelos normalizados vs desnormalizados</a:t>
            </a:r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46148832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666</Words>
  <Application>Microsoft Office PowerPoint</Application>
  <PresentationFormat>Panorámica</PresentationFormat>
  <Paragraphs>20</Paragraphs>
  <Slides>10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Tema de Office</vt:lpstr>
      <vt:lpstr>Colecciones en PL/SQL</vt:lpstr>
      <vt:lpstr>Resumen</vt:lpstr>
      <vt:lpstr>Modelado: Normalizado vs Colecciones</vt:lpstr>
      <vt:lpstr>Indices en Oracle</vt:lpstr>
      <vt:lpstr>SAVE EXCEPTIONS</vt:lpstr>
      <vt:lpstr>BULK COLLECT y FORALL</vt:lpstr>
      <vt:lpstr>Metodos de Coleccion</vt:lpstr>
      <vt:lpstr>Nested Tables y VARRAYs</vt:lpstr>
      <vt:lpstr>Associative Arrays (INDEX BY)</vt:lpstr>
      <vt:lpstr>Objetivos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Keneth Joel Sabando Solorzano</dc:creator>
  <cp:lastModifiedBy>Keneth Joel Sabando Solorzano</cp:lastModifiedBy>
  <cp:revision>1</cp:revision>
  <dcterms:created xsi:type="dcterms:W3CDTF">2026-06-05T14:29:57Z</dcterms:created>
  <dcterms:modified xsi:type="dcterms:W3CDTF">2026-06-05T14:29:57Z</dcterms:modified>
</cp:coreProperties>
</file>