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3" r:id="rId5"/>
    <p:sldId id="262" r:id="rId6"/>
    <p:sldId id="261" r:id="rId7"/>
    <p:sldId id="260" r:id="rId8"/>
    <p:sldId id="259" r:id="rId9"/>
    <p:sldId id="258" r:id="rId10"/>
    <p:sldId id="257" r:id="rId11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B817D-975B-720E-9450-A04FD73FDB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B173A1-9254-D0C3-218D-051C2B78C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DF62C6-A332-7E04-2022-B415A1D6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8243-2FA2-4E67-9C33-2EA6F517F23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C045C6-900D-3EB9-4892-33BD990D7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8E38E1-846C-9914-FABC-334690E0F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6D454-BC34-49FA-92E3-3EF86C7ADA2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54067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217ECB-D8B7-2251-C968-42432F525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9AFA21-FAC2-9C6C-92C5-02E5BBCC1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3F3646-8D09-8E6A-9DD0-0525BA70A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8243-2FA2-4E67-9C33-2EA6F517F23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C3128C-7132-7A98-BACD-C74F46E0F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4BE52D-4462-53D4-7502-E1E64853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6D454-BC34-49FA-92E3-3EF86C7ADA2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79259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65D4F-49D0-63FC-79B5-480B9E776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F04593-B8B7-1DA4-8F0E-1112BE002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6A16E9-E742-D6C1-5246-B18A2252C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8243-2FA2-4E67-9C33-2EA6F517F23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BD0822-12A5-20BD-8B5A-D97375FEB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010A4E-CE4C-F069-DDB5-D79D6711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6D454-BC34-49FA-92E3-3EF86C7ADA2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6378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FEBE0-CD6B-C004-576F-F89E752CD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C34B6D-7CCD-138B-EE80-3A3B230BFE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44C489-D96C-723D-0A12-4C2A06B30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28019B-8C89-6CC3-1434-6CB2AAE1D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8243-2FA2-4E67-9C33-2EA6F517F23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25F817-6ABE-21F5-A346-3C45D4324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ACEF92-4B10-2A2F-7B3C-53DA7C5EE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6D454-BC34-49FA-92E3-3EF86C7ADA2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3501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158196-4A52-0C99-2226-2C598C195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FD6A67-7505-3609-2FD8-73F540113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82B3CB2-BBC2-F52D-EDFF-5110C1325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45CB868-1D91-0F26-C50E-28DA66D8C5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04E6392-FED2-954F-FB3E-932DD59D11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6C7504E-2BAB-A7E4-C89E-4FE273706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8243-2FA2-4E67-9C33-2EA6F517F23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DE3E634-B70E-09B3-5B32-E04483E99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91EE732-E7EE-93A2-2201-055D2650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6D454-BC34-49FA-92E3-3EF86C7ADA2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46710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F294C-EA6A-33F3-1D88-2FFE7D9EC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5EE1466-61F3-B2A5-35FD-1820C397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8243-2FA2-4E67-9C33-2EA6F517F23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A226390-6589-237A-951D-9468FA926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0AB3D63-6B15-FB0E-1F0B-50CB0AB1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6D454-BC34-49FA-92E3-3EF86C7ADA2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6442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3B11CC-8779-62AD-02FA-9103D6CD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8243-2FA2-4E67-9C33-2EA6F517F23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A67830B-260C-10A5-C833-CFCBB4EC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ED9811-CCC7-321E-DB82-0A610DF7B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6D454-BC34-49FA-92E3-3EF86C7ADA2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387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1E8366-7AC3-2F81-EFD2-8A65B9CC9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552ACE-EF2B-0AB7-2ECD-4E8C2620D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CC08019-89CF-5D27-7A80-0BB74BCD4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97B008-AAF6-7227-5952-10EB0580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8243-2FA2-4E67-9C33-2EA6F517F23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1C6502-C424-5927-3034-1E0E7762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0D7D35-AC26-E7C3-FFB5-1A79761AC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6D454-BC34-49FA-92E3-3EF86C7ADA2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09449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B3F049-0D5B-3C19-035B-4FCF62817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8F99696-D7C2-F35C-5ECD-DCFF44D937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349659-9310-027C-F577-98178108E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D223C3-72F9-6C80-295D-DA30D91A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8243-2FA2-4E67-9C33-2EA6F517F23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DC8AA3C-67D1-B366-83A5-A50C8DD77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2F2948-FD02-417C-4DF5-D3150640C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6D454-BC34-49FA-92E3-3EF86C7ADA2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56698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6E5C29-6E3B-F8F5-73E7-48FB82B5D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37C2FC-36E5-97C2-BEA1-8A186A7C0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B847E7-56A9-3006-CF27-63605A62B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8243-2FA2-4E67-9C33-2EA6F517F23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7F1080-1BC4-6EBA-7D93-286E6E820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17B9D6-8BC2-CF28-C309-C62FB6B6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6D454-BC34-49FA-92E3-3EF86C7ADA2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0034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A29BD21-C468-1D11-87EE-417A635DD9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FC842B2-C7F6-479E-807B-C959F6487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28B5EF-731E-F462-482B-FDCF5569E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8243-2FA2-4E67-9C33-2EA6F517F23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F52644-5E26-D661-C980-58076F159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E51B0B-99D7-624E-0F77-86FD8377E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6D454-BC34-49FA-92E3-3EF86C7ADA2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46334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61BD5-6227-A7EB-D384-0743BF5AE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08A33A-CB68-5A29-9C87-5D1F1700A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CAFCC8-6A25-A24F-CADF-0CCF34DF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8243-2FA2-4E67-9C33-2EA6F517F23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3006F8-B2E5-CD38-D9C9-39A2F7D0C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58002E-2A2A-EE2F-CAC0-07D85F590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6D454-BC34-49FA-92E3-3EF86C7ADA2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78854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466DB81-C253-52B9-C67F-7668AEE58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37788C-19B5-5FA4-4804-07B66D7FA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E80F1D-F941-8B58-B849-F82109563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AD8243-2FA2-4E67-9C33-2EA6F517F23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953F4A-13B5-4364-2DE9-E243FD632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290183-E1EB-0CE1-A72F-2A1EB432A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96D454-BC34-49FA-92E3-3EF86C7ADA2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56360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A6839-C11E-EBCA-91D0-73F7E41A81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/>
              <a:t>DML, Transacciones y Diseno Transaccional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DA0DA5-B593-5276-1336-4A4A0ED37F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/>
              <a:t>Semana 2 - Clase 9: INSERT, UPDATE, DELETE, MERGE y control transaccional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51004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76333B-AAD3-7193-DE12-1961C515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Resumen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F27CEC-9EFA-6C43-282A-24B151CA7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DML en PL/SQL con RETURNING INTO
SQL%FOUND, %NOTFOUND, %ROWCOUNT para control
SAVEPOINT para deshacer selectivamente
AUTONOMOUS_TRANSACTION para logging independiente
MERGE para sincronizacion eficiente
Secuencias para claves primarias
Disenar transacciones cortas con ACID en mente</a:t>
            </a:r>
          </a:p>
        </p:txBody>
      </p:sp>
    </p:spTree>
    <p:extLst>
      <p:ext uri="{BB962C8B-B14F-4D97-AF65-F5344CB8AC3E}">
        <p14:creationId xmlns:p14="http://schemas.microsoft.com/office/powerpoint/2010/main" val="484833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950FAC-EADD-BCEC-1B29-CCC28D043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Subconsultas Correlacionadas y Diseno ACID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78FF60-97F2-51D1-35A9-495AEC4C7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s-MX"/>
              <a:t>Subconsulta Correlacionada:
  Referencia columnas de la consulta externa
  Se evalua una vez por fila externa (puede ser costoso)
Principio ACID:
  Atomicity: Todo o nada
  Consistency: BD siempre en estado valido
  Isolation: Transacciones concurrentes no se interfieren
  Durability: Datos commiteados persisten ante fallos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10371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640F1F-4C21-7360-813C-BF5370142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Secuencias (SEQUENCE)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E282AB-11FC-B527-2292-B9EA4BE7C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C"/>
              <a:t>CREATE SEQUENCE seq_nombre
  START WITH 1 INCREMENT BY 1
  MINVALUE 1 MAXVALUE 999999
  NOCACHE NOCYCLE;
NEXTVAL: Obtiene siguiente valor y avanza
CURRVAL: Valor actual en la sesion (requiere NEXTVAL previo)
INSERT INTO t (id, nombre) VALUES (seq.NEXTVAL, 'Ana')
  RETURNING id INTO v_id;</a:t>
            </a:r>
          </a:p>
        </p:txBody>
      </p:sp>
    </p:spTree>
    <p:extLst>
      <p:ext uri="{BB962C8B-B14F-4D97-AF65-F5344CB8AC3E}">
        <p14:creationId xmlns:p14="http://schemas.microsoft.com/office/powerpoint/2010/main" val="1608045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C008B3-036F-A0F3-36E0-A4584C777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MERGE (UPSERT)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8E272E-8152-D66C-807B-C403FF9A1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C"/>
              <a:t>Combina INSERT y UPDATE en una sentencia atomica
MERGE INTO tabla_destino d
USING tabla_origen o ON (d.id = o.id)
WHEN MATCHED THEN UPDATE SET d.col = o.col
WHEN NOT MATCHED THEN INSERT (col1, col2) VALUES (o.val1, o.val2);
Ideal para: Sincronizacion ETL, cargas incrementales
Ventaja: Evita IF EXISTS + INSERT/UPDATE (condicion de carrera)</a:t>
            </a:r>
          </a:p>
        </p:txBody>
      </p:sp>
    </p:spTree>
    <p:extLst>
      <p:ext uri="{BB962C8B-B14F-4D97-AF65-F5344CB8AC3E}">
        <p14:creationId xmlns:p14="http://schemas.microsoft.com/office/powerpoint/2010/main" val="4268508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1437CD-FE68-CA78-583B-CCBDAD623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PRAGMA AUTONOMOUS_TRANSACTION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6266D3-9EB9-9487-45FA-E59A45E3D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C"/>
              <a:t>Transaccion independiente de la principal
CREATE OR REPLACE PROCEDURE p_log_error(msg VARCHAR2) IS
  PRAGMA AUTONOMOUS_TRANSACTION;
BEGIN
  INSERT INTO log_errores VALUES (seq.NEXTVAL, msg);
  COMMIT; -- Solo afecta esta transaccion
END;
Usos: Logging, auditoria, contadores que deben persistir
PRECAUCION: No abusar; cada AT consume recursos</a:t>
            </a:r>
          </a:p>
        </p:txBody>
      </p:sp>
    </p:spTree>
    <p:extLst>
      <p:ext uri="{BB962C8B-B14F-4D97-AF65-F5344CB8AC3E}">
        <p14:creationId xmlns:p14="http://schemas.microsoft.com/office/powerpoint/2010/main" val="2832067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298F93-91ED-7DFA-CF58-195C27C7F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COMMIT, ROLLBACK y SAVEPOINT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1FF441-E8F8-EA48-A862-14CA0612D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C"/>
              <a:t>COMMIT: Confirma todos los cambios de la transaccion
ROLLBACK: Deshace todos los cambios desde el inicio
SAVEPOINT sp_nombre: Marca un punto de control
ROLLBACK TO sp_nombre: Deshace solo hasta el savepoint
BEGIN
  INSERT INTO t1 ...;
  SAVEPOINT sp_paso1;
  INSERT INTO t2 ...;
  IF condicion THEN ROLLBACK TO sp_paso1; END IF;
  COMMIT;
END;</a:t>
            </a:r>
          </a:p>
        </p:txBody>
      </p:sp>
    </p:spTree>
    <p:extLst>
      <p:ext uri="{BB962C8B-B14F-4D97-AF65-F5344CB8AC3E}">
        <p14:creationId xmlns:p14="http://schemas.microsoft.com/office/powerpoint/2010/main" val="2427019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7A41CC-E9FB-EB5B-D3A9-7ABB10B70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Atributos del Cursor Implicito SQL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A45943-6140-1BC1-DE44-28138ADF5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C"/>
              <a:t>SQL%FOUND - TRUE si la DML afecto &gt;= 1 fila
SQL%NOTFOUND - TRUE si afecto 0 filas
SQL%ROWCOUNT - Numero de filas afectadas
SQL%ISOPEN - Siempre FALSE (cursor implicito)
IF SQL%NOTFOUND THEN
  DBMS_OUTPUT.PUT_LINE('No se encontro registro');
ELSE
  DBMS_OUTPUT.PUT_LINE('Filas: ' || SQL%ROWCOUNT);
END IF;</a:t>
            </a:r>
          </a:p>
        </p:txBody>
      </p:sp>
    </p:spTree>
    <p:extLst>
      <p:ext uri="{BB962C8B-B14F-4D97-AF65-F5344CB8AC3E}">
        <p14:creationId xmlns:p14="http://schemas.microsoft.com/office/powerpoint/2010/main" val="692215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F844D-9CD0-6404-1587-6B2D6318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INSERT, UPDATE, DELETE en PL/SQL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CFC98A-0FA1-329A-E979-924D6E98F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s-EC"/>
              <a:t>INSERT INTO t (col1, col2) VALUES (val1, val2) RETURNING id INTO v_id;
UPDATE t SET col = val WHERE condicion;
DELETE FROM t WHERE condicion;
RETURNING INTO:
  Recupera valores de la fila afectada sin SELECT extra
  Ideal para obtener IDs de secuencias</a:t>
            </a:r>
          </a:p>
        </p:txBody>
      </p:sp>
    </p:spTree>
    <p:extLst>
      <p:ext uri="{BB962C8B-B14F-4D97-AF65-F5344CB8AC3E}">
        <p14:creationId xmlns:p14="http://schemas.microsoft.com/office/powerpoint/2010/main" val="2001186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06E13-5BBB-B518-DE5F-339221D54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Objetivos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57C79E-ECCF-95F8-C35E-7AE3E8451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Dominar operaciones DML en PL/SQL con RETURNING INTO
Controlar transacciones con COMMIT, ROLLBACK y SAVEPOINT
Aplicar PRAGMA AUTONOMOUS_TRANSACTION para logging
Utilizar MERGE para sincronizacion de datos
Disenar modelos transaccionales con principios ACID</a:t>
            </a:r>
          </a:p>
        </p:txBody>
      </p:sp>
    </p:spTree>
    <p:extLst>
      <p:ext uri="{BB962C8B-B14F-4D97-AF65-F5344CB8AC3E}">
        <p14:creationId xmlns:p14="http://schemas.microsoft.com/office/powerpoint/2010/main" val="24109109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</Words>
  <Application>Microsoft Office PowerPoint</Application>
  <PresentationFormat>Panorámica</PresentationFormat>
  <Paragraphs>20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DML, Transacciones y Diseno Transaccional</vt:lpstr>
      <vt:lpstr>Resumen</vt:lpstr>
      <vt:lpstr>Subconsultas Correlacionadas y Diseno ACID</vt:lpstr>
      <vt:lpstr>Secuencias (SEQUENCE)</vt:lpstr>
      <vt:lpstr>MERGE (UPSERT)</vt:lpstr>
      <vt:lpstr>PRAGMA AUTONOMOUS_TRANSACTION</vt:lpstr>
      <vt:lpstr>COMMIT, ROLLBACK y SAVEPOINT</vt:lpstr>
      <vt:lpstr>Atributos del Cursor Implicito SQL</vt:lpstr>
      <vt:lpstr>INSERT, UPDATE, DELETE en PL/SQL</vt:lpstr>
      <vt:lpstr>Objetivos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Keneth Joel Sabando Solorzano</dc:creator>
  <cp:lastModifiedBy>Keneth Joel Sabando Solorzano</cp:lastModifiedBy>
  <cp:revision>1</cp:revision>
  <dcterms:created xsi:type="dcterms:W3CDTF">2026-06-05T14:30:15Z</dcterms:created>
  <dcterms:modified xsi:type="dcterms:W3CDTF">2026-06-05T14:30:16Z</dcterms:modified>
</cp:coreProperties>
</file>